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is a Target Audience? 🎯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By: Grade 8 Student | Business &amp; Marketing Class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Target Audience?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 b="0">
                <a:solidFill>
                  <a:srgbClr val="1E293B"/>
                </a:solidFill>
              </a:rPr>
              <a:t>A target audience is the specific group of people that a message, product, or advertisement is aimed at.</a:t>
            </a:r>
          </a:p>
          <a:p>
            <a:pPr/>
            <a:r>
              <a:rPr sz="2000">
                <a:solidFill>
                  <a:srgbClr val="3B82F6"/>
                </a:solidFill>
              </a:rPr>
              <a:t>Think of it like a DARTBOARD 🎯 — the bullseye is your target audience.</a:t>
            </a:r>
          </a:p>
          <a:p>
            <a:pPr/>
            <a:r>
              <a:rPr sz="2000">
                <a:solidFill>
                  <a:srgbClr val="3B82F6"/>
                </a:solidFill>
              </a:rPr>
              <a:t>You don't throw darts randomly — you aim carefully!</a:t>
            </a:r>
          </a:p>
          <a:p>
            <a:pPr lvl="1"/>
            <a:r>
              <a:rPr sz="1800">
                <a:solidFill>
                  <a:srgbClr val="64748B"/>
                </a:solidFill>
              </a:rPr>
              <a:t>Example: If you're making a skateboard video game, your target audience is probably kids aged 10-16 who like sports and video games.</a:t>
            </a:r>
          </a:p>
        </p:txBody>
      </p:sp>
      <p:sp>
        <p:nvSpPr>
          <p:cNvPr id="4" name="Oval 3"/>
          <p:cNvSpPr/>
          <p:nvPr/>
        </p:nvSpPr>
        <p:spPr>
          <a:xfrm>
            <a:off x="6858000" y="2926080"/>
            <a:ext cx="2286000" cy="2286000"/>
          </a:xfrm>
          <a:prstGeom prst="ellipse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86600" y="3154680"/>
            <a:ext cx="1828800" cy="1828800"/>
          </a:xfrm>
          <a:prstGeom prst="ellipse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0" y="3383280"/>
            <a:ext cx="1371600" cy="1371600"/>
          </a:xfrm>
          <a:prstGeom prst="ellipse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79" y="3566160"/>
            <a:ext cx="1005840" cy="1005840"/>
          </a:xfrm>
          <a:prstGeom prst="ellipse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35240" y="3703320"/>
            <a:ext cx="731520" cy="731520"/>
          </a:xfrm>
          <a:prstGeom prst="ellipse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26679" y="3794760"/>
            <a:ext cx="548640" cy="54864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Does Target Audience Matter?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E293B"/>
                </a:solidFill>
              </a:rPr>
              <a:t>If you're selling a product, you want to reach the RIGHT people — not everyone!</a:t>
            </a:r>
          </a:p>
          <a:p>
            <a:pPr/>
            <a:r>
              <a:rPr sz="1900">
                <a:solidFill>
                  <a:srgbClr val="DC2626"/>
                </a:solidFill>
              </a:rPr>
              <a:t>Wasting money on the wrong audience = lost money 💸</a:t>
            </a:r>
          </a:p>
          <a:p>
            <a:pPr/>
            <a:r>
              <a:rPr sz="1900">
                <a:solidFill>
                  <a:srgbClr val="16A34A"/>
                </a:solidFill>
              </a:rPr>
              <a:t>Getting the right message to the right people = more sales &amp; happier customers ✅</a:t>
            </a:r>
          </a:p>
          <a:p>
            <a:pPr lvl="1"/>
            <a:r>
              <a:rPr sz="1800">
                <a:solidFill>
                  <a:srgbClr val="64748B"/>
                </a:solidFill>
              </a:rPr>
              <a:t>Example: You wouldn't advertise a new baby formula to high schoolers 😅</a:t>
            </a:r>
          </a:p>
          <a:p>
            <a:pPr lvl="1"/>
            <a:r>
              <a:rPr sz="1800">
                <a:solidFill>
                  <a:srgbClr val="64748B"/>
                </a:solidFill>
              </a:rPr>
              <a:t>Example: You wouldn't sell a skateboard to someone who only likes knitting 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Demographics: The Numbers Stuff 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1E40AF"/>
                </a:solidFill>
              </a:rPr>
              <a:t>Demographics = basic facts about a group of people</a:t>
            </a:r>
          </a:p>
          <a:p>
            <a:pPr/>
            <a:r>
              <a:rPr sz="800"/>
              <a:t/>
            </a:r>
          </a:p>
          <a:p>
            <a:pPr/>
            <a:r>
              <a:rPr sz="1900">
                <a:solidFill>
                  <a:srgbClr val="1E293B"/>
                </a:solidFill>
              </a:rPr>
              <a:t>👤 Age — e.g., 12-18 years old</a:t>
            </a:r>
          </a:p>
          <a:p>
            <a:pPr/>
            <a:r>
              <a:rPr sz="1900">
                <a:solidFill>
                  <a:srgbClr val="1E293B"/>
                </a:solidFill>
              </a:rPr>
              <a:t>🚻 Gender — male, female, non-binary, etc.</a:t>
            </a:r>
          </a:p>
          <a:p>
            <a:pPr/>
            <a:r>
              <a:rPr sz="1900">
                <a:solidFill>
                  <a:srgbClr val="1E293B"/>
                </a:solidFill>
              </a:rPr>
              <a:t>📍 Location — city, country, urban vs. rural</a:t>
            </a:r>
          </a:p>
          <a:p>
            <a:pPr/>
            <a:r>
              <a:rPr sz="1900">
                <a:solidFill>
                  <a:srgbClr val="1E293B"/>
                </a:solidFill>
              </a:rPr>
              <a:t>💰 Income — how much money people have</a:t>
            </a:r>
          </a:p>
          <a:p>
            <a:pPr/>
            <a:r>
              <a:rPr sz="1900">
                <a:solidFill>
                  <a:srgbClr val="1E293B"/>
                </a:solidFill>
              </a:rPr>
              <a:t>🎓 Education — high school, college, etc.</a:t>
            </a:r>
          </a:p>
          <a:p>
            <a:pPr lvl="1"/>
            <a:r>
              <a:rPr sz="1600">
                <a:solidFill>
                  <a:srgbClr val="64748B"/>
                </a:solidFill>
              </a:rPr>
              <a:t>Example: A toy company's target audience might be kids aged 6-12 who live in cities with parents earning middle income.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Psychographics: The Personality Stuff 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BE185D"/>
                </a:solidFill>
              </a:rPr>
              <a:t>Psychographics = what people are LIKE on the inside</a:t>
            </a:r>
          </a:p>
          <a:p>
            <a:pPr/>
            <a:r>
              <a:rPr sz="800"/>
              <a:t/>
            </a:r>
          </a:p>
          <a:p>
            <a:pPr/>
            <a:r>
              <a:rPr sz="1900">
                <a:solidFill>
                  <a:srgbClr val="1E293B"/>
                </a:solidFill>
              </a:rPr>
              <a:t>🎮 Interests &amp; Hobbies — gaming, sports, music, art</a:t>
            </a:r>
          </a:p>
          <a:p>
            <a:pPr/>
            <a:r>
              <a:rPr sz="1900">
                <a:solidFill>
                  <a:srgbClr val="1E293B"/>
                </a:solidFill>
              </a:rPr>
              <a:t>😎 Personality — outgoing, shy, adventurous, careful</a:t>
            </a:r>
          </a:p>
          <a:p>
            <a:pPr/>
            <a:r>
              <a:rPr sz="1900">
                <a:solidFill>
                  <a:srgbClr val="1E293B"/>
                </a:solidFill>
              </a:rPr>
              <a:t>💖 Values — what matters to them (family, freedom, success)</a:t>
            </a:r>
          </a:p>
          <a:p>
            <a:pPr/>
            <a:r>
              <a:rPr sz="1900">
                <a:solidFill>
                  <a:srgbClr val="1E293B"/>
                </a:solidFill>
              </a:rPr>
              <a:t>📱 Lifestyle — how they live day to day</a:t>
            </a:r>
          </a:p>
          <a:p>
            <a:pPr lvl="1"/>
            <a:r>
              <a:rPr sz="1600">
                <a:solidFill>
                  <a:srgbClr val="64748B"/>
                </a:solidFill>
              </a:rPr>
              <a:t>Example: The target audience for Nike ads isn't just 'people who exercise' — it's people who LOVE sports, want to look cool, and feel motivated by athletes.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Primary, Secondary &amp; Tertiary Audiences 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16A34A"/>
                </a:solidFill>
              </a:rPr>
              <a:t>🥇 Primary Audience — The MAIN people you're targeting</a:t>
            </a:r>
          </a:p>
          <a:p>
            <a:pPr lvl="1"/>
            <a:r>
              <a:rPr sz="1600">
                <a:solidFill>
                  <a:srgbClr val="64748B"/>
                </a:solidFill>
              </a:rPr>
              <a:t>These are the people most likely to buy or act. Example: people who actually buy the new sneakers.</a:t>
            </a:r>
          </a:p>
          <a:p>
            <a:pPr/>
            <a:r>
              <a:rPr sz="600"/>
              <a:t/>
            </a:r>
          </a:p>
          <a:p>
            <a:pPr/>
            <a:r>
              <a:rPr sz="2000" b="1">
                <a:solidFill>
                  <a:srgbClr val="F59E0B"/>
                </a:solidFill>
              </a:rPr>
              <a:t>🥈 Secondary Audience — People who influence the decision</a:t>
            </a:r>
          </a:p>
          <a:p>
            <a:pPr lvl="1"/>
            <a:r>
              <a:rPr sz="1600">
                <a:solidFill>
                  <a:srgbClr val="64748B"/>
                </a:solidFill>
              </a:rPr>
              <a:t>They might not buy it, but they help someone decide. Example: a kid's friend who says 'that looks cool!'</a:t>
            </a:r>
          </a:p>
          <a:p>
            <a:pPr/>
            <a:r>
              <a:rPr sz="600"/>
              <a:t/>
            </a:r>
          </a:p>
          <a:p>
            <a:pPr/>
            <a:r>
              <a:rPr sz="2000" b="1">
                <a:solidFill>
                  <a:srgbClr val="6B7280"/>
                </a:solidFill>
              </a:rPr>
              <a:t>🥉 Tertiary Audience — People who might see it but aren't the focus</a:t>
            </a:r>
          </a:p>
          <a:p>
            <a:pPr lvl="1"/>
            <a:r>
              <a:rPr sz="1600">
                <a:solidFill>
                  <a:srgbClr val="64748B"/>
                </a:solidFill>
              </a:rPr>
              <a:t>Casual viewers or people who stumble upon it by accident.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 in Real Life 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E293B"/>
                </a:solidFill>
              </a:rPr>
              <a:t>📱 TikTok — Mostly Gen Z and teens (ages 13-24)</a:t>
            </a:r>
          </a:p>
          <a:p>
            <a:pPr lvl="1"/>
            <a:r>
              <a:rPr sz="1600">
                <a:solidFill>
                  <a:srgbClr val="64748B"/>
                </a:solidFill>
              </a:rPr>
              <a:t>Short, fun videos — that's exactly what teens love!</a:t>
            </a:r>
          </a:p>
          <a:p>
            <a:pPr/>
            <a:r>
              <a:rPr sz="600"/>
              <a:t/>
            </a:r>
          </a:p>
          <a:p>
            <a:pPr/>
            <a:r>
              <a:rPr sz="2000">
                <a:solidFill>
                  <a:srgbClr val="1E293B"/>
                </a:solidFill>
              </a:rPr>
              <a:t>🏀 NBA Games on TV — Sports fans, mostly adults 25-54</a:t>
            </a:r>
          </a:p>
          <a:p>
            <a:pPr lvl="1"/>
            <a:r>
              <a:rPr sz="1600">
                <a:solidFill>
                  <a:srgbClr val="64748B"/>
                </a:solidFill>
              </a:rPr>
              <a:t>People who follow basketball, watch live sports, and buy tickets.</a:t>
            </a:r>
          </a:p>
          <a:p>
            <a:pPr/>
            <a:r>
              <a:rPr sz="600"/>
              <a:t/>
            </a:r>
          </a:p>
          <a:p>
            <a:pPr/>
            <a:r>
              <a:rPr sz="2000">
                <a:solidFill>
                  <a:srgbClr val="1E293B"/>
                </a:solidFill>
              </a:rPr>
              <a:t>🎮 Roblox — Kids and tweens, ages 8-14</a:t>
            </a:r>
          </a:p>
          <a:p>
            <a:pPr lvl="1"/>
            <a:r>
              <a:rPr sz="1600">
                <a:solidFill>
                  <a:srgbClr val="64748B"/>
                </a:solidFill>
              </a:rPr>
              <a:t>Free-to-play, creative games that kids can enjoy with friends.</a:t>
            </a:r>
          </a:p>
          <a:p>
            <a:pPr/>
            <a:r>
              <a:rPr sz="600"/>
              <a:t/>
            </a:r>
          </a:p>
          <a:p>
            <a:pPr/>
            <a:r>
              <a:rPr sz="2000">
                <a:solidFill>
                  <a:srgbClr val="1E293B"/>
                </a:solidFill>
              </a:rPr>
              <a:t>🍔 McDonald's Happy Meal — Families with kids aged 3-10</a:t>
            </a:r>
          </a:p>
          <a:p>
            <a:pPr lvl="1"/>
            <a:r>
              <a:rPr sz="1600">
                <a:solidFill>
                  <a:srgbClr val="64748B"/>
                </a:solidFill>
              </a:rPr>
              <a:t>The toy inside is designed to make kids want to go there!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🔗 Your Turn! Think of your favorite app or game. Who do YOU think the target audience is? Write down 2 demographics + 2 psychographics. You'll share in a minute! 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Companies Find Their Audience? 🕵️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1E293B"/>
                </a:solidFill>
              </a:rPr>
              <a:t>1️⃣ Surveys &amp; Questionnaires — Asking people directly what they like</a:t>
            </a:r>
          </a:p>
          <a:p>
            <a:pPr/>
            <a:r>
              <a:rPr sz="400"/>
              <a:t/>
            </a:r>
          </a:p>
          <a:p>
            <a:pPr/>
            <a:r>
              <a:rPr sz="2000">
                <a:solidFill>
                  <a:srgbClr val="1E293B"/>
                </a:solidFill>
              </a:rPr>
              <a:t>2️⃣ Research &amp; Data — Looking at who already buys their products</a:t>
            </a:r>
          </a:p>
          <a:p>
            <a:pPr lvl="1"/>
            <a:r>
              <a:rPr sz="1600">
                <a:solidFill>
                  <a:srgbClr val="64748B"/>
                </a:solidFill>
              </a:rPr>
              <a:t>Companies track what people click on, buy, and watch.</a:t>
            </a:r>
          </a:p>
          <a:p>
            <a:pPr/>
            <a:r>
              <a:rPr sz="400"/>
              <a:t/>
            </a:r>
          </a:p>
          <a:p>
            <a:pPr/>
            <a:r>
              <a:rPr sz="2000">
                <a:solidFill>
                  <a:srgbClr val="1E293B"/>
                </a:solidFill>
              </a:rPr>
              <a:t>3️⃣ Social Media &amp; Tracking — Seeing who interacts with their posts</a:t>
            </a:r>
          </a:p>
          <a:p>
            <a:pPr lvl="1"/>
            <a:r>
              <a:rPr sz="1600">
                <a:solidFill>
                  <a:srgbClr val="64748B"/>
                </a:solidFill>
              </a:rPr>
              <a:t>Likes, shares, comments tell them who's interested.</a:t>
            </a:r>
          </a:p>
          <a:p>
            <a:pPr/>
            <a:r>
              <a:rPr sz="400"/>
              <a:t/>
            </a:r>
          </a:p>
          <a:p>
            <a:pPr/>
            <a:r>
              <a:rPr sz="2000">
                <a:solidFill>
                  <a:srgbClr val="1E293B"/>
                </a:solidFill>
              </a:rPr>
              <a:t>4️⃣ Testing &amp; Trying — Running small ads to see who responds</a:t>
            </a:r>
          </a:p>
          <a:p>
            <a:pPr lvl="1"/>
            <a:r>
              <a:rPr sz="1600">
                <a:solidFill>
                  <a:srgbClr val="64748B"/>
                </a:solidFill>
              </a:rPr>
              <a:t>They test different messages on different groups and see what works!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Quiz! 🧠 Can You Guess the Target Audience?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92400E"/>
                </a:solidFill>
              </a:rPr>
              <a:t>Question 1: A new skateboarding video game 🎮</a:t>
            </a:r>
          </a:p>
          <a:p>
            <a:pPr lvl="1"/>
            <a:r>
              <a:rPr sz="1700">
                <a:solidFill>
                  <a:srgbClr val="64748B"/>
                </a:solidFill>
              </a:rPr>
              <a:t>Answer: Kids and teens aged 10-18 who like skateboarding, action games, and extreme sports.</a:t>
            </a:r>
          </a:p>
          <a:p>
            <a:pPr/>
            <a:r>
              <a:rPr sz="600"/>
              <a:t/>
            </a:r>
          </a:p>
          <a:p>
            <a:pPr/>
            <a:r>
              <a:rPr sz="2000" b="1">
                <a:solidFill>
                  <a:srgbClr val="92400E"/>
                </a:solidFill>
              </a:rPr>
              <a:t>Question 2: A luxury gold watch 💎</a:t>
            </a:r>
          </a:p>
          <a:p>
            <a:pPr lvl="1"/>
            <a:r>
              <a:rPr sz="1700">
                <a:solidFill>
                  <a:srgbClr val="64748B"/>
                </a:solidFill>
              </a:rPr>
              <a:t>Answer: Adults (30+) with high income who value status, luxury, and fine products.</a:t>
            </a:r>
          </a:p>
          <a:p>
            <a:pPr/>
            <a:r>
              <a:rPr sz="600"/>
              <a:t/>
            </a:r>
          </a:p>
          <a:p>
            <a:pPr/>
            <a:r>
              <a:rPr sz="2000" b="1">
                <a:solidFill>
                  <a:srgbClr val="92400E"/>
                </a:solidFill>
              </a:rPr>
              <a:t>Question 3: A cartoon about talking animals for little kids 📺</a:t>
            </a:r>
          </a:p>
          <a:p>
            <a:pPr lvl="1"/>
            <a:r>
              <a:rPr sz="1700">
                <a:solidFill>
                  <a:srgbClr val="64748B"/>
                </a:solidFill>
              </a:rPr>
              <a:t>Answer: Children aged 3-7 and their parents who are looking for family-friendly entertainment.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065F46"/>
                </a:solidFill>
              </a:rPr>
              <a:t>🎯 Remember: a target audience = the SPECIFIC group a message or product is aimed at.</a:t>
            </a:r>
          </a:p>
          <a:p>
            <a:pPr/>
            <a:r>
              <a:rPr sz="600"/>
              <a:t/>
            </a:r>
          </a:p>
          <a:p>
            <a:pPr/>
            <a:r>
              <a:rPr sz="1900">
                <a:solidFill>
                  <a:srgbClr val="065F46"/>
                </a:solidFill>
              </a:rPr>
              <a:t>📊 Demographics = WHO they are (age, gender, location, income).</a:t>
            </a:r>
          </a:p>
          <a:p>
            <a:pPr/>
            <a:r>
              <a:rPr sz="1900">
                <a:solidFill>
                  <a:srgbClr val="065F46"/>
                </a:solidFill>
              </a:rPr>
              <a:t>🧠 Psychographics = WHAT THEY'RE LIKE (interests, personality, values).</a:t>
            </a:r>
          </a:p>
          <a:p>
            <a:pPr/>
            <a:r>
              <a:rPr sz="600"/>
              <a:t/>
            </a:r>
          </a:p>
          <a:p>
            <a:pPr/>
            <a:r>
              <a:rPr sz="1900">
                <a:solidFill>
                  <a:srgbClr val="065F46"/>
                </a:solidFill>
              </a:rPr>
              <a:t>👥 There are primary (main buyers), secondary (influencers), and tertiary (casual) audiences.</a:t>
            </a:r>
          </a:p>
          <a:p>
            <a:pPr/>
            <a:r>
              <a:rPr sz="600"/>
              <a:t/>
            </a:r>
          </a:p>
          <a:p>
            <a:pPr/>
            <a:r>
              <a:rPr sz="1900">
                <a:solidFill>
                  <a:srgbClr val="065F46"/>
                </a:solidFill>
              </a:rPr>
              <a:t>Companies use surveys, data, tracking, and testing to find their audience.</a:t>
            </a:r>
          </a:p>
          <a:p>
            <a:pPr/>
            <a:r>
              <a:rPr sz="600"/>
              <a:t/>
            </a:r>
          </a:p>
          <a:p>
            <a:pPr/>
            <a:r>
              <a:rPr sz="1900" b="1">
                <a:solidFill>
                  <a:srgbClr val="047857"/>
                </a:solidFill>
              </a:rPr>
              <a:t>Knowing your target audience helps you create BETTER products and messages!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846320"/>
            <a:ext cx="8595360" cy="457200"/>
          </a:xfrm>
          <a:prstGeom prst="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4892040"/>
            <a:ext cx="2286000" cy="3657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65F46"/>
                </a:solidFill>
              </a:rPr>
              <a:t>The End! 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49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65F46"/>
                </a:solidFill>
                <a:latin typeface="Calibri"/>
              </a:rPr>
              <a:t>📌 Next up: Complete the Target Audience Analysis worksheet!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&amp; References 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>
                <a:solidFill>
                  <a:srgbClr val="64748B"/>
                </a:solidFill>
              </a:rPr>
              <a:t>Wikipedia — "Target Audience" — https://en.wikipedia.org/wiki/Target_audience</a:t>
            </a:r>
          </a:p>
          <a:p>
            <a:pPr/>
            <a:r>
              <a:rPr sz="500"/>
              <a:t/>
            </a:r>
          </a:p>
          <a:p>
            <a:pPr/>
            <a:r>
              <a:rPr sz="1500">
                <a:solidFill>
                  <a:srgbClr val="64748B"/>
                </a:solidFill>
              </a:rPr>
              <a:t>Iowa State University — "Who Is My Target Audience?" Webinar</a:t>
            </a:r>
          </a:p>
          <a:p>
            <a:pPr/>
            <a:r>
              <a:rPr sz="500"/>
              <a:t/>
            </a:r>
          </a:p>
          <a:p>
            <a:pPr/>
            <a:r>
              <a:rPr sz="1500">
                <a:solidFill>
                  <a:srgbClr val="64748B"/>
                </a:solidFill>
              </a:rPr>
              <a:t>Southern Regional Education Board — "Step 3: Audience Research"</a:t>
            </a:r>
          </a:p>
          <a:p>
            <a:pPr/>
            <a:r>
              <a:rPr sz="500"/>
              <a:t/>
            </a:r>
          </a:p>
          <a:p>
            <a:pPr/>
            <a:r>
              <a:rPr sz="1500">
                <a:solidFill>
                  <a:srgbClr val="64748B"/>
                </a:solidFill>
              </a:rPr>
              <a:t>IMSA Digital Commons — "Target Audience and Pain Point" (Student module)</a:t>
            </a:r>
          </a:p>
          <a:p>
            <a:pPr/>
            <a:r>
              <a:rPr sz="500"/>
              <a:t/>
            </a:r>
          </a:p>
          <a:p>
            <a:pPr/>
            <a:r>
              <a:rPr sz="1400">
                <a:solidFill>
                  <a:srgbClr val="94A3B8"/>
                </a:solidFill>
              </a:rPr>
              <a:t>Images &amp; Icons: Emojis used throughout are from Unicode emoji standards.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64748B"/>
                </a:solidFill>
                <a:latin typeface="Calibri"/>
              </a:rPr>
              <a:t>♿ Accessibility Note: This presentation uses color to organize content by topic (blue = demographics, pink = psychographics, etc.). Each section also has a text label, so the meaning is clear even if color isn't perceived.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⏱ ~15 min  |  Target Audience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